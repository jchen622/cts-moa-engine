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Opening. Everything quoted in this deck comes from a real run on 21 Aug 2026, not a mock-up. The three guarantees on the left are the design constraints the tool was built to honour.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Counts are from PubMed, filtered to the series title convention, and match the team deck. The right-hand column is not a caricature: the twelve purplebook-search downloads and the mostly-empty contact grid are both sitting in the ASCPT Drive folder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The key point for a sceptical listener is stage 2: collecting approvals is easy, deciding which are genuinely novel is the part that needed real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someone asks 'why not just use the FDA API?', this is the slide. The openFDA behaviour is not a bug in our code — it is how their nested search works — but it would have produced a queue full of decades-old drugs with nobody noticing.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to linger on. The distinction that matters: FDA's NME class alone is not enough — it would have let through a new BLA for bevacizumab as if it were a new molecule. The moiety index catches that; the new-route rule then decides it is interesting anyway, for a different and explicit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scoring is deliberately arithmetic rather than clever. If the group thinks a coverage gap should outweigh first-in-class, that is a one-line change in classify.py and the deck's numbers move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replaces the old version of this slide, which framed the payoff as the ASCPT meeting. The meeting is one channel for reaching the person; finding the person is the job.</a:t>
            </a:r>
          </a:p>
          <a:p/>
          <a:p>
            <a:r>
              <a:t>Every name here is real output. The pivekimab example is the important one: a naive 'take the first author' rule returns an MD Anderson oncologist, which is exactly the wrong person to invite to write a clinical pharmacology mini-review.</a:t>
            </a:r>
          </a:p>
          <a:p/>
          <a:p>
            <a:r>
              <a:t>The tool also harvests corresponding-author emails from the affiliation string when PubMed carries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saying out loud: the backtest is the reason to believe any of this. It also caught a real bug — the Type 2 gap — which is a good answer to 'how do you know it's right?'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portability slide matters for the durability question: the tool is not tied to one laptop or one person, though someone still has to choose to run it. The only requirement is Python 3 — there is nothing to sign in to, and a browser window is the whole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ownership question rather than on the technology. The tool removes the effort but not the accountability, and the group has to place that somewhere.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1371600"/>
            <a:ext cx="1280160" cy="4114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645920"/>
            <a:ext cx="80467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1C222B"/>
                </a:solidFill>
                <a:latin typeface="Arial"/>
              </a:rPr>
              <a:t>The MOA sourcing engine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F4E79"/>
                </a:solidFill>
                <a:latin typeface="Arial"/>
              </a:rPr>
              <a:t>How new drug approvals become mini-review candidates — automatically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200400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35C69"/>
                </a:solidFill>
                <a:latin typeface="Arial"/>
              </a:rPr>
              <a:t>A small program that watches every FDA approval, keeps only the genuinely novel agents, ranks them for the MOA mini-review series, and then names the clinical pharmacologist at the company who actually worked on each drug.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572000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4590288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1C222B"/>
                </a:solidFill>
                <a:latin typeface="Arial"/>
              </a:rPr>
              <a:t>Runs when you run it — </a:t>
            </a:r>
            <a:r>
              <a:rPr sz="1200">
                <a:solidFill>
                  <a:srgbClr val="535C69"/>
                </a:solidFill>
                <a:latin typeface="Arial"/>
              </a:rPr>
              <a:t>no background surprises; start and stop at will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138928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5157216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1C222B"/>
                </a:solidFill>
                <a:latin typeface="Arial"/>
              </a:rPr>
              <a:t>Writes nothing by default — </a:t>
            </a:r>
            <a:r>
              <a:rPr sz="1200">
                <a:solidFill>
                  <a:srgbClr val="535C69"/>
                </a:solidFill>
                <a:latin typeface="Arial"/>
              </a:rPr>
              <a:t>every write needs an explicit --go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5705856"/>
            <a:ext cx="274320" cy="274320"/>
          </a:xfrm>
          <a:prstGeom prst="roundRect">
            <a:avLst>
              <a:gd name="adj" fmla="val 18000"/>
            </a:avLst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5724144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1C222B"/>
                </a:solidFill>
                <a:latin typeface="Arial"/>
              </a:rPr>
              <a:t>Never sends email — </a:t>
            </a:r>
            <a:r>
              <a:rPr sz="1200">
                <a:solidFill>
                  <a:srgbClr val="535C69"/>
                </a:solidFill>
                <a:latin typeface="Arial"/>
              </a:rPr>
              <a:t>it drafts invitations; you send them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73568" y="1645920"/>
            <a:ext cx="3651199" cy="448056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B8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02168" y="1874519"/>
            <a:ext cx="3193999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IN ONE RUN, TODAY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E79"/>
                </a:solidFill>
                <a:latin typeface="Arial"/>
              </a:rPr>
              <a:t>29,278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 i="0">
                <a:solidFill>
                  <a:srgbClr val="535C69"/>
                </a:solidFill>
                <a:latin typeface="Arial"/>
              </a:rPr>
              <a:t>FDA applications indexed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E79"/>
                </a:solidFill>
                <a:latin typeface="Arial"/>
              </a:rPr>
              <a:t>27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 i="0">
                <a:solidFill>
                  <a:srgbClr val="535C69"/>
                </a:solidFill>
                <a:latin typeface="Arial"/>
              </a:rPr>
              <a:t>novel agents in the current queue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E79"/>
                </a:solidFill>
                <a:latin typeface="Arial"/>
              </a:rPr>
              <a:t>24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 i="0">
                <a:solidFill>
                  <a:srgbClr val="535C69"/>
                </a:solidFill>
                <a:latin typeface="Arial"/>
              </a:rPr>
              <a:t>with a named clinical pharmacologist to write to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F4E79"/>
                </a:solidFill>
                <a:latin typeface="Arial"/>
              </a:rPr>
              <a:t>18/19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000" b="0" i="0">
                <a:solidFill>
                  <a:srgbClr val="535C69"/>
                </a:solidFill>
                <a:latin typeface="Arial"/>
              </a:rPr>
              <a:t>published MOA papers the filter would have 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1041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08C"/>
                </a:solidFill>
                <a:latin typeface="Arial"/>
              </a:rPr>
              <a:t>CTS MOA sourcing engine — how it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7567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08C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Arial"/>
              </a:rPr>
              <a:t>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105783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222B"/>
                </a:solidFill>
                <a:latin typeface="Arial"/>
              </a:rPr>
              <a:t>The problem: the series has never held a steady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57839" cy="9525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MOA MINI-REVIEWS PUBLISHED PER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013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222B"/>
                </a:solidFill>
                <a:latin typeface="Arial"/>
              </a:rPr>
              <a:t>2023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1755648"/>
            <a:ext cx="307570" cy="329184"/>
          </a:xfrm>
          <a:prstGeom prst="rect">
            <a:avLst/>
          </a:prstGeom>
          <a:solidFill>
            <a:srgbClr val="9B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514578" y="1810512"/>
            <a:ext cx="1371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222B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951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222B"/>
                </a:solidFill>
                <a:latin typeface="Arial"/>
              </a:rPr>
              <a:t>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5568" y="2249424"/>
            <a:ext cx="3383280" cy="32918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90288" y="2304288"/>
            <a:ext cx="1371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222B"/>
                </a:solidFill>
                <a:latin typeface="Arial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889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222B"/>
                </a:solidFill>
                <a:latin typeface="Arial"/>
              </a:rPr>
              <a:t>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15568" y="2743200"/>
            <a:ext cx="615141" cy="329184"/>
          </a:xfrm>
          <a:prstGeom prst="rect">
            <a:avLst/>
          </a:prstGeom>
          <a:solidFill>
            <a:srgbClr val="9B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822149" y="2798064"/>
            <a:ext cx="1371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222B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2826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C222B"/>
                </a:solidFill>
                <a:latin typeface="Arial"/>
              </a:rPr>
              <a:t>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5568" y="3236976"/>
            <a:ext cx="1537854" cy="329184"/>
          </a:xfrm>
          <a:prstGeom prst="rect">
            <a:avLst/>
          </a:prstGeom>
          <a:solidFill>
            <a:srgbClr val="9DB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744862" y="3291840"/>
            <a:ext cx="1371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C222B"/>
                </a:solidFill>
                <a:latin typeface="Arial"/>
              </a:rPr>
              <a:t>5 (to Aug)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70332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35C69"/>
                </a:solidFill>
                <a:latin typeface="Arial"/>
              </a:rPr>
              <a:t>A launch batch, a collapse, a partial recovery. The 2025 trough is what happens when every step of sourcing needs a person to remember to start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1371600"/>
            <a:ext cx="54799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THE PROCESS THIS REPLACES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700784"/>
            <a:ext cx="5479999" cy="621792"/>
          </a:xfrm>
          <a:prstGeom prst="rect">
            <a:avLst/>
          </a:prstGeom>
          <a:solidFill>
            <a:srgbClr val="F3F5F8"/>
          </a:solidFill>
          <a:ln w="9525">
            <a:solidFill>
              <a:srgbClr val="B8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91072" y="1792224"/>
            <a:ext cx="51873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C222B"/>
                </a:solidFill>
                <a:latin typeface="Arial"/>
              </a:rPr>
              <a:t>1.  Download the Purple Book by hand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6808C"/>
                </a:solidFill>
                <a:latin typeface="Arial"/>
              </a:rPr>
              <a:t>12 monthly files sat in Drive, unread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4767" y="2322576"/>
            <a:ext cx="2743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DB6CE"/>
                </a:solidFill>
                <a:latin typeface="Arial"/>
              </a:rPr>
              <a:t>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2450592"/>
            <a:ext cx="5479999" cy="621792"/>
          </a:xfrm>
          <a:prstGeom prst="rect">
            <a:avLst/>
          </a:prstGeom>
          <a:solidFill>
            <a:srgbClr val="F3F5F8"/>
          </a:solidFill>
          <a:ln w="9525">
            <a:solidFill>
              <a:srgbClr val="B8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91072" y="2542032"/>
            <a:ext cx="51873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C222B"/>
                </a:solidFill>
                <a:latin typeface="Arial"/>
              </a:rPr>
              <a:t>2.  Skim for anything new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6808C"/>
                </a:solidFill>
                <a:latin typeface="Arial"/>
              </a:rPr>
              <a:t>no record of what had been reviewed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4767" y="3072384"/>
            <a:ext cx="2743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DB6CE"/>
                </a:solidFill>
                <a:latin typeface="Arial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3200400"/>
            <a:ext cx="5479999" cy="621792"/>
          </a:xfrm>
          <a:prstGeom prst="rect">
            <a:avLst/>
          </a:prstGeom>
          <a:solidFill>
            <a:srgbClr val="F3F5F8"/>
          </a:solidFill>
          <a:ln w="9525">
            <a:solidFill>
              <a:srgbClr val="B8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91072" y="3291840"/>
            <a:ext cx="51873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C222B"/>
                </a:solidFill>
                <a:latin typeface="Arial"/>
              </a:rPr>
              <a:t>3.  Look up who to contact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6808C"/>
                </a:solidFill>
                <a:latin typeface="Arial"/>
              </a:rPr>
              <a:t>a 44-company grid with one row filled 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4767" y="3822192"/>
            <a:ext cx="27432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DB6CE"/>
                </a:solidFill>
                <a:latin typeface="Arial"/>
              </a:rPr>
              <a:t>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44768" y="3950208"/>
            <a:ext cx="5479999" cy="621792"/>
          </a:xfrm>
          <a:prstGeom prst="rect">
            <a:avLst/>
          </a:prstGeom>
          <a:solidFill>
            <a:srgbClr val="F3F5F8"/>
          </a:solidFill>
          <a:ln w="9525">
            <a:solidFill>
              <a:srgbClr val="B8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91072" y="4041648"/>
            <a:ext cx="51873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C222B"/>
                </a:solidFill>
                <a:latin typeface="Arial"/>
              </a:rPr>
              <a:t>4.  Send an invitation, sometimes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6808C"/>
                </a:solidFill>
                <a:latin typeface="Arial"/>
              </a:rPr>
              <a:t>no queue, no owner, no follow-up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4892040"/>
            <a:ext cx="547999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9B3A3A"/>
                </a:solidFill>
                <a:latin typeface="Arial"/>
              </a:rPr>
              <a:t>Every arrow needs a human to push it. Miss one month and the queue is empty.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73952"/>
            <a:ext cx="1041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08C"/>
                </a:solidFill>
                <a:latin typeface="Arial"/>
              </a:rPr>
              <a:t>CTS MOA sourcing engine — how it works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67567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08C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Arial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105783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222B"/>
                </a:solidFill>
                <a:latin typeface="Arial"/>
              </a:rPr>
              <a:t>The pipeline,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57839" cy="9525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1773936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1773936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76656" y="1536192"/>
            <a:ext cx="1554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4E79"/>
                </a:solidFill>
                <a:latin typeface="Arial"/>
              </a:rPr>
              <a:t>1. COLLECT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C222B"/>
                </a:solidFill>
                <a:latin typeface="Arial"/>
              </a:rPr>
              <a:t>Two FDA feeds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C69"/>
                </a:solidFill>
                <a:latin typeface="Arial"/>
              </a:rPr>
              <a:t>· Drugs@FDA bulk files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C69"/>
                </a:solidFill>
                <a:latin typeface="Arial"/>
              </a:rPr>
              <a:t>· Purple Book (CBER)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22576" y="2139696"/>
            <a:ext cx="2926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DB6CE"/>
                </a:solidFill>
                <a:latin typeface="Arial"/>
              </a:rPr>
              <a:t>▸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2" y="1371600"/>
            <a:ext cx="1773936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2450592" y="1371600"/>
            <a:ext cx="1773936" cy="50292"/>
          </a:xfrm>
          <a:prstGeom prst="rect">
            <a:avLst/>
          </a:prstGeom>
          <a:solidFill>
            <a:srgbClr val="9B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560320" y="1536192"/>
            <a:ext cx="1554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B3A3A"/>
                </a:solidFill>
                <a:latin typeface="Arial"/>
              </a:rPr>
              <a:t>2. FILTER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C222B"/>
                </a:solidFill>
                <a:latin typeface="Arial"/>
              </a:rPr>
              <a:t>Is it a novel agent?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C69"/>
                </a:solidFill>
                <a:latin typeface="Arial"/>
              </a:rPr>
              <a:t>· known-moiety index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C69"/>
                </a:solidFill>
                <a:latin typeface="Arial"/>
              </a:rPr>
              <a:t>· new-route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139696"/>
            <a:ext cx="2926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DB6CE"/>
                </a:solidFill>
                <a:latin typeface="Arial"/>
              </a:rPr>
              <a:t>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1371600"/>
            <a:ext cx="1773936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34256" y="1371600"/>
            <a:ext cx="1773936" cy="50292"/>
          </a:xfrm>
          <a:prstGeom prst="rect">
            <a:avLst/>
          </a:prstGeom>
          <a:solidFill>
            <a:srgbClr val="9DB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443984" y="1536192"/>
            <a:ext cx="1554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DB6CE"/>
                </a:solidFill>
                <a:latin typeface="Arial"/>
              </a:rPr>
              <a:t>3. CLASSIFY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C222B"/>
                </a:solidFill>
                <a:latin typeface="Arial"/>
              </a:rPr>
              <a:t>What kind of drug?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C69"/>
                </a:solidFill>
                <a:latin typeface="Arial"/>
              </a:rPr>
              <a:t>· modality from INN stem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C69"/>
                </a:solidFill>
                <a:latin typeface="Arial"/>
              </a:rPr>
              <a:t>· coverage-gap flag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2139696"/>
            <a:ext cx="2926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DB6CE"/>
                </a:solidFill>
                <a:latin typeface="Arial"/>
              </a:rPr>
              <a:t>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1773936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1773936" cy="502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27648" y="1536192"/>
            <a:ext cx="1554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F4E79"/>
                </a:solidFill>
                <a:latin typeface="Arial"/>
              </a:rPr>
              <a:t>4. ENRICH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C222B"/>
                </a:solidFill>
                <a:latin typeface="Arial"/>
              </a:rPr>
              <a:t>Who worked on it?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C69"/>
                </a:solidFill>
                <a:latin typeface="Arial"/>
              </a:rPr>
              <a:t>· Phase 1 clin pharm papers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C69"/>
                </a:solidFill>
                <a:latin typeface="Arial"/>
              </a:rPr>
              <a:t>· author affiliations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2139696"/>
            <a:ext cx="2926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DB6CE"/>
                </a:solidFill>
                <a:latin typeface="Arial"/>
              </a:rPr>
              <a:t>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1584" y="1371600"/>
            <a:ext cx="1773936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101584" y="1371600"/>
            <a:ext cx="1773936" cy="50292"/>
          </a:xfrm>
          <a:prstGeom prst="rect">
            <a:avLst/>
          </a:prstGeom>
          <a:solidFill>
            <a:srgbClr val="9DB6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11312" y="1536192"/>
            <a:ext cx="1554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9DB6CE"/>
                </a:solidFill>
                <a:latin typeface="Arial"/>
              </a:rPr>
              <a:t>5. RANK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C222B"/>
                </a:solidFill>
                <a:latin typeface="Arial"/>
              </a:rPr>
              <a:t>How urgent?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C69"/>
                </a:solidFill>
                <a:latin typeface="Arial"/>
              </a:rPr>
              <a:t>· 0–100 score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C69"/>
                </a:solidFill>
                <a:latin typeface="Arial"/>
              </a:rPr>
              <a:t>· reasons recorded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2139696"/>
            <a:ext cx="292608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DB6CE"/>
                </a:solidFill>
                <a:latin typeface="Arial"/>
              </a:rPr>
              <a:t>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85248" y="1371600"/>
            <a:ext cx="1773936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9985248" y="1371600"/>
            <a:ext cx="1773936" cy="50292"/>
          </a:xfrm>
          <a:prstGeom prst="rect">
            <a:avLst/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094976" y="1536192"/>
            <a:ext cx="15544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E6B52"/>
                </a:solidFill>
                <a:latin typeface="Arial"/>
              </a:rPr>
              <a:t>6. DELIVER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1" i="0">
                <a:solidFill>
                  <a:srgbClr val="1C222B"/>
                </a:solidFill>
                <a:latin typeface="Arial"/>
              </a:rPr>
              <a:t>Where it lands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C69"/>
                </a:solidFill>
                <a:latin typeface="Arial"/>
              </a:rPr>
              <a:t>· queue sheet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535C69"/>
                </a:solidFill>
                <a:latin typeface="Arial"/>
              </a:rPr>
              <a:t>· outreach list + drafts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45643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WHAT COMES OUT — three files in one folder on your computer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749039"/>
            <a:ext cx="3611880" cy="12344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B8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3232" y="3895344"/>
            <a:ext cx="331927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1F4E79"/>
                </a:solidFill>
                <a:latin typeface="Arial"/>
              </a:rPr>
              <a:t>MOA candidate queue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35C69"/>
                </a:solidFill>
                <a:latin typeface="Arial"/>
              </a:rPr>
              <a:t>Append-only. The machine fills the facts; the AE owner and Status columns are yours and are never overwritten.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3749039"/>
            <a:ext cx="3611880" cy="12344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B8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443984" y="3895344"/>
            <a:ext cx="331927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1F4E79"/>
                </a:solidFill>
                <a:latin typeface="Arial"/>
              </a:rPr>
              <a:t>MOA author outreach list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35C69"/>
                </a:solidFill>
                <a:latin typeface="Arial"/>
              </a:rPr>
              <a:t>Ranked candidates, each with the clinical pharmacologists to contact, why they were picked and the PubMed IDs behind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28432" y="3749039"/>
            <a:ext cx="3611880" cy="12344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B8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174736" y="3895344"/>
            <a:ext cx="331927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1" i="0">
                <a:solidFill>
                  <a:srgbClr val="1F4E79"/>
                </a:solidFill>
                <a:latin typeface="Arial"/>
              </a:rPr>
              <a:t>Invitation drafts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35C69"/>
                </a:solidFill>
                <a:latin typeface="Arial"/>
              </a:rPr>
              <a:t>One editable draft per candidate, opened in a browser or Word. Nothing is sent; you review, edit and send each one yourself.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23036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TWO CADENCES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504688"/>
            <a:ext cx="1105783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35C69"/>
                </a:solidFill>
                <a:latin typeface="Arial"/>
              </a:rPr>
              <a:t>Monthly — a light run tops up the queue so nothing is lost.  ·  Whenever you are ready to write — build the outreach list and the letters. Before ASCPT, drop in the programme or attendee list and the same people gain a poster number and a time.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473952"/>
            <a:ext cx="1041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08C"/>
                </a:solidFill>
                <a:latin typeface="Arial"/>
              </a:rPr>
              <a:t>CTS MOA sourcing engine — how it works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67567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08C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Arial"/>
              </a:rPr>
              <a:t>STEP 1 — COLLECT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105783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222B"/>
                </a:solidFill>
                <a:latin typeface="Arial"/>
              </a:rPr>
              <a:t>Where the data comes from, and why it takes two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57839" cy="9525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53312"/>
            <a:ext cx="5623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499616"/>
            <a:ext cx="5257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SOURCE A — Drugs@FDA bulk files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535C69"/>
                </a:solidFill>
                <a:latin typeface="Arial"/>
              </a:rPr>
              <a:t>A 6 MB zip of 12 relational tables, rebuilt daily. Joining Applications × Submissions × Products gives every original approval and its FDA submission class.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C222B"/>
                </a:solidFill>
                <a:latin typeface="Arial"/>
              </a:rPr>
              <a:t>Covers:  all NDAs, plus CDER-regulated biologics (BLA 761xxx)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B3A3A"/>
                </a:solidFill>
                <a:latin typeface="Arial"/>
              </a:rPr>
              <a:t>Misses:  CBER products — cell and gene therapy, vaccines, plasma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767328"/>
            <a:ext cx="56235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3913632"/>
            <a:ext cx="5257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4E79"/>
                </a:solidFill>
                <a:latin typeface="Arial"/>
              </a:rPr>
              <a:t>SOURCE B — Purple Book monthly report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050" b="0" i="0">
                <a:solidFill>
                  <a:srgbClr val="535C69"/>
                </a:solidFill>
                <a:latin typeface="Arial"/>
              </a:rPr>
              <a:t>Already a change report, not a snapshot: an N/R/U column marks each row New, added in Release, or Updated. No month-to-month diffing needed — which the manual process never exploited.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C222B"/>
                </a:solidFill>
                <a:latin typeface="Arial"/>
              </a:rPr>
              <a:t>Covers:  CBER biologics — exactly the modality gaps the series has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5C69"/>
                </a:solidFill>
                <a:latin typeface="Arial"/>
              </a:rPr>
              <a:t>Excludes:  351(k) biosimilars and interchangeables, by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64808" y="1353312"/>
            <a:ext cx="5159959" cy="160020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B8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47688" y="1499616"/>
            <a:ext cx="4794199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WHY BOTH — the proof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222B"/>
                </a:solidFill>
                <a:latin typeface="Arial"/>
              </a:rPr>
              <a:t>BLA 125730 (StrataGraft, a cell therapy) is absent from Drugs@FDA entirely. Only 73 of the classic 125xxx CBER applications appear there at all. Without the Purple Book, the series would never see a cell or gene therapy approval.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64808" y="3090672"/>
            <a:ext cx="5159959" cy="2962656"/>
          </a:xfrm>
          <a:prstGeom prst="rect">
            <a:avLst/>
          </a:prstGeom>
          <a:solidFill>
            <a:srgbClr val="FFFFFF"/>
          </a:solidFill>
          <a:ln w="9525">
            <a:solidFill>
              <a:srgbClr val="9B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647688" y="3236976"/>
            <a:ext cx="4794199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9B3A3A"/>
                </a:solidFill>
                <a:latin typeface="Arial"/>
              </a:rPr>
              <a:t>⚠  A TRAP WORTH KNOWING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 i="0">
                <a:solidFill>
                  <a:srgbClr val="535C69"/>
                </a:solidFill>
                <a:latin typeface="Arial"/>
              </a:rPr>
              <a:t>The obvious approach — the openFDA web API — silently returns wrong answers here. It matches conditions across the whole application document rather than within one submission, so: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47688" y="4279392"/>
            <a:ext cx="4794199" cy="480060"/>
          </a:xfrm>
          <a:prstGeom prst="rect">
            <a:avLst/>
          </a:prstGeom>
          <a:solidFill>
            <a:srgbClr val="2B3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793992" y="4425696"/>
            <a:ext cx="4501591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E8ECF1"/>
                </a:solidFill>
                <a:latin typeface="Menlo"/>
              </a:rPr>
              <a:t>search=date:[2026] AND class:"TYPE 1"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7688" y="4773168"/>
            <a:ext cx="479419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222B"/>
                </a:solidFill>
                <a:latin typeface="Arial"/>
              </a:rPr>
              <a:t>claims 279 results and returns approvals from 2008, 2014, 2016, 2019 and 2020. The bulk files are used instead precisely because they allow a correct per-submission join.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1041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08C"/>
                </a:solidFill>
                <a:latin typeface="Arial"/>
              </a:rPr>
              <a:t>CTS MOA sourcing engine — how it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67567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08C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Arial"/>
              </a:rPr>
              <a:t>STEP 2 —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105783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222B"/>
                </a:solidFill>
                <a:latin typeface="Arial"/>
              </a:rPr>
              <a:t>What counts as a “novel agent” — the heart of the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57839" cy="9525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35C69"/>
                </a:solidFill>
                <a:latin typeface="Arial"/>
              </a:rPr>
              <a:t>Novelty is decided against a known-moiety index built from all 29,278 applications in the FDA record — not a keyword list. Every verdict carries a plain-text reason you can argue with.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83080"/>
            <a:ext cx="562356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49808" y="1920240"/>
            <a:ext cx="1051560" cy="256032"/>
          </a:xfrm>
          <a:prstGeom prst="roundRect">
            <a:avLst>
              <a:gd name="adj" fmla="val 18000"/>
            </a:avLst>
          </a:prstGeom>
          <a:solidFill>
            <a:srgbClr val="1E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INCLUDED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286000"/>
            <a:ext cx="525780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1C222B"/>
                </a:solidFill>
                <a:latin typeface="Arial"/>
              </a:rPr>
              <a:t>— First approval of a moiety </a:t>
            </a:r>
            <a:r>
              <a:rPr sz="1050">
                <a:solidFill>
                  <a:srgbClr val="535C69"/>
                </a:solidFill>
                <a:latin typeface="Arial"/>
              </a:rPr>
              <a:t>anywhere in the FDA record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1C222B"/>
                </a:solidFill>
                <a:latin typeface="Arial"/>
              </a:rPr>
              <a:t>— A combination with one new component </a:t>
            </a:r>
            <a:r>
              <a:rPr sz="1050">
                <a:solidFill>
                  <a:srgbClr val="535C69"/>
                </a:solidFill>
                <a:latin typeface="Arial"/>
              </a:rPr>
              <a:t>— cefepime + zidebactam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1C222B"/>
                </a:solidFill>
                <a:latin typeface="Arial"/>
              </a:rPr>
              <a:t>— New active ingredient </a:t>
            </a:r>
            <a:r>
              <a:rPr sz="1050">
                <a:solidFill>
                  <a:srgbClr val="535C69"/>
                </a:solidFill>
                <a:latin typeface="Arial"/>
              </a:rPr>
              <a:t>— an enantiomer or salt (esketamine)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050" b="1">
                <a:solidFill>
                  <a:srgbClr val="1C222B"/>
                </a:solidFill>
                <a:latin typeface="Arial"/>
              </a:rPr>
              <a:t>— Known molecule by a new route </a:t>
            </a:r>
            <a:r>
              <a:rPr sz="1050">
                <a:solidFill>
                  <a:srgbClr val="535C69"/>
                </a:solidFill>
                <a:latin typeface="Arial"/>
              </a:rPr>
              <a:t>— intrathecal Zolgensma (ITVISMA), ophthalmic bevacizumab (LYTENAVA)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434840"/>
            <a:ext cx="56235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9B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749808" y="4572000"/>
            <a:ext cx="1051560" cy="256032"/>
          </a:xfrm>
          <a:prstGeom prst="roundRect">
            <a:avLst>
              <a:gd name="adj" fmla="val 18000"/>
            </a:avLst>
          </a:prstGeom>
          <a:solidFill>
            <a:srgbClr val="9B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EXCLUDED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937760"/>
            <a:ext cx="5257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35C69"/>
                </a:solidFill>
                <a:latin typeface="Arial"/>
              </a:rPr>
              <a:t>— Generics (ANDAs), biosimilars and interchangeables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35C69"/>
                </a:solidFill>
                <a:latin typeface="Arial"/>
              </a:rPr>
              <a:t>— Reformulations and new combinations of old drugs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35C69"/>
                </a:solidFill>
                <a:latin typeface="Arial"/>
              </a:rPr>
              <a:t>— Repeat applications by the same route — a reformulated COVID-19 vaccine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0" i="0">
                <a:solidFill>
                  <a:srgbClr val="535C69"/>
                </a:solidFill>
                <a:latin typeface="Arial"/>
              </a:rPr>
              <a:t>— Plasma-derived products — immune globulin, prothrombin complex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1783080"/>
            <a:ext cx="5159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REAL VERDICTS FROM THE LAST RUN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64808" y="2084831"/>
          <a:ext cx="5159959" cy="35935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08760"/>
                <a:gridCol w="3651199"/>
              </a:tblGrid>
              <a:tr h="265176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F4E79"/>
                          </a:solidFill>
                          <a:latin typeface="Arial"/>
                        </a:rPr>
                        <a:t>Agent</a:t>
                      </a:r>
                    </a:p>
                  </a:txBody>
                  <a:tcPr marL="54864" marR="54864" marT="18288" marB="18288" anchor="ctr">
                    <a:solidFill>
                      <a:srgbClr val="E8ED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F4E79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54864" marR="54864" marT="18288" marB="18288" anchor="ctr">
                    <a:solidFill>
                      <a:srgbClr val="E8EDF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orforglipron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KEEP — first approval of this moiety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zidebactam
(with cefepime)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KEEP — novel component in a combination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onasemnogene
abeparvovec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KEEP — new route: intrathecal; new brand ITVISMA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bevacizumab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KEEP — new brand LYTENAVA on an NME-classed original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COVID-19 vaccine
mRNA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DROP — previously approved moiety and route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ranibizumab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DROP — previously approved moiety and route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immune globulin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DROP — plasma-derived, non-novel class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64808" y="5742432"/>
            <a:ext cx="5159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6808C"/>
                </a:solidFill>
                <a:latin typeface="Arial"/>
              </a:rPr>
              <a:t>The new-route rule is why the two “known molecule” rows are keeps, not drops.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73952"/>
            <a:ext cx="1041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08C"/>
                </a:solidFill>
                <a:latin typeface="Arial"/>
              </a:rPr>
              <a:t>CTS MOA sourcing engine — how it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67567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08C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Arial"/>
              </a:rPr>
              <a:t>STEPS 3–5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105783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222B"/>
                </a:solidFill>
                <a:latin typeface="Arial"/>
              </a:rPr>
              <a:t>Classify, enrich, and rank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57839" cy="9525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325880"/>
            <a:ext cx="56235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49808" y="1463040"/>
            <a:ext cx="5257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F4E79"/>
                </a:solidFill>
                <a:latin typeface="Arial"/>
              </a:rPr>
              <a:t>CLASSIFY — modality from the drug's name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5C69"/>
                </a:solidFill>
                <a:latin typeface="Arial"/>
              </a:rPr>
              <a:t>INN stems are a naming convention, so the name itself encodes the modality. The list follows the 2021 WHO revision that replaced “-mab” with -tug, -bart, -mig and -ment — without it, current antibodies such as veligrotug get filed as small molecules.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926080"/>
            <a:ext cx="56235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3063240"/>
            <a:ext cx="5257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F4E79"/>
                </a:solidFill>
                <a:latin typeface="Arial"/>
              </a:rPr>
              <a:t>ENRICH — ask PubMed two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5C69"/>
                </a:solidFill>
                <a:latin typeface="Arial"/>
              </a:rPr>
              <a:t>1.  Has a mechanism-of-action review already been written? If so, don't invite a duplicate.
2.  Who publishes clinical pharmacology on this drug? Those names become the suggested authors.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526280"/>
            <a:ext cx="5623560" cy="160020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B8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4663440"/>
            <a:ext cx="5257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GAP FLAGS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222B"/>
                </a:solidFill>
                <a:latin typeface="Arial"/>
              </a:rPr>
              <a:t>A candidate that fills a hole in the series scores higher. The gap list comes straight from the team deck: cell &amp; gene therapy, CAR-T, radioligand therapy, siRNA/ASO, incretins &amp; cardiometabolic, vaccines, AI-derived assets.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1325880"/>
            <a:ext cx="5159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F4E79"/>
                </a:solidFill>
                <a:latin typeface="Arial"/>
              </a:rPr>
              <a:t>RANK — a legible 0–100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1627632"/>
            <a:ext cx="5159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5C69"/>
                </a:solidFill>
                <a:latin typeface="Arial"/>
              </a:rPr>
              <a:t>Not a black box. Every term is recorded on the row, so the group can disagree with the weights and change them in one place.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64808" y="2148840"/>
            <a:ext cx="5159959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47688" y="2286000"/>
            <a:ext cx="479419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WORKED EXAMPLE — insulin icodec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1F4E79"/>
                </a:solidFill>
                <a:latin typeface="Menlo"/>
              </a:rPr>
              <a:t>  +40   </a:t>
            </a:r>
            <a:r>
              <a:rPr sz="1000">
                <a:solidFill>
                  <a:srgbClr val="1C222B"/>
                </a:solidFill>
                <a:latin typeface="Arial"/>
              </a:rPr>
              <a:t>first-in-human moiety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1F4E79"/>
                </a:solidFill>
                <a:latin typeface="Menlo"/>
              </a:rPr>
              <a:t>  +22   </a:t>
            </a:r>
            <a:r>
              <a:rPr sz="1000">
                <a:solidFill>
                  <a:srgbClr val="1C222B"/>
                </a:solidFill>
                <a:latin typeface="Arial"/>
              </a:rPr>
              <a:t>fills coverage gap: incretins &amp; cardiometabolic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1F4E79"/>
                </a:solidFill>
                <a:latin typeface="Menlo"/>
              </a:rPr>
              <a:t>   +8   </a:t>
            </a:r>
            <a:r>
              <a:rPr sz="1000">
                <a:solidFill>
                  <a:srgbClr val="1C222B"/>
                </a:solidFill>
                <a:latin typeface="Arial"/>
              </a:rPr>
              <a:t>no existing MOA review found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1F4E79"/>
                </a:solidFill>
                <a:latin typeface="Menlo"/>
              </a:rPr>
              <a:t>   +6   </a:t>
            </a:r>
            <a:r>
              <a:rPr sz="1000">
                <a:solidFill>
                  <a:srgbClr val="1C222B"/>
                </a:solidFill>
                <a:latin typeface="Arial"/>
              </a:rPr>
              <a:t>clin pharm literature exists, 13 papers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000" b="1">
                <a:solidFill>
                  <a:srgbClr val="1F4E79"/>
                </a:solidFill>
                <a:latin typeface="Menlo"/>
              </a:rPr>
              <a:t>   +8   </a:t>
            </a:r>
            <a:r>
              <a:rPr sz="1000">
                <a:solidFill>
                  <a:srgbClr val="1C222B"/>
                </a:solidFill>
                <a:latin typeface="Arial"/>
              </a:rPr>
              <a:t>approved this year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Menlo"/>
              </a:rPr>
              <a:t>   84   </a:t>
            </a:r>
            <a:r>
              <a:rPr sz="1100" b="1">
                <a:solidFill>
                  <a:srgbClr val="1C222B"/>
                </a:solidFill>
                <a:latin typeface="Arial"/>
              </a:rPr>
              <a:t>total — top of the current queue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64808" y="4526280"/>
            <a:ext cx="5159959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647688" y="4663440"/>
            <a:ext cx="479419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SCORES GO DOWN TOO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C69"/>
                </a:solidFill>
                <a:latin typeface="Menlo"/>
              </a:rPr>
              <a:t>−30  a MOA review already exists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C69"/>
                </a:solidFill>
                <a:latin typeface="Menlo"/>
              </a:rPr>
              <a:t>−15  diagnostic rather than therapeutic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35C69"/>
                </a:solidFill>
                <a:latin typeface="Menlo"/>
              </a:rPr>
              <a:t>−8   no clin pharm literature, authors unclear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73952"/>
            <a:ext cx="1041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08C"/>
                </a:solidFill>
                <a:latin typeface="Arial"/>
              </a:rPr>
              <a:t>CTS MOA sourcing engine — how it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67567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08C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Arial"/>
              </a:rPr>
              <a:t>THE PAYOFF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105783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222B"/>
                </a:solidFill>
                <a:latin typeface="Arial"/>
              </a:rPr>
              <a:t>Who to write to — by name, with the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57839" cy="9525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80160"/>
            <a:ext cx="1105783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35C69"/>
                </a:solidFill>
                <a:latin typeface="Arial"/>
              </a:rPr>
              <a:t>The objective is reaching the clinical pharmacologist who actually worked on the drug. The tool finds them in PubMed and says why it picked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3736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THREE PASSES — because author position means different things in different papers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011680"/>
          <a:ext cx="11057839" cy="15270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896"/>
                <a:gridCol w="5943600"/>
                <a:gridCol w="4803343"/>
              </a:tblGrid>
              <a:tr h="265176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F4E79"/>
                          </a:solidFill>
                          <a:latin typeface="Arial"/>
                        </a:rPr>
                        <a:t> </a:t>
                      </a:r>
                    </a:p>
                  </a:txBody>
                  <a:tcPr marL="54864" marR="54864" marT="18288" marB="18288" anchor="ctr">
                    <a:solidFill>
                      <a:srgbClr val="E8ED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F4E79"/>
                          </a:solidFill>
                          <a:latin typeface="Arial"/>
                        </a:rPr>
                        <a:t>What it searches</a:t>
                      </a:r>
                    </a:p>
                  </a:txBody>
                  <a:tcPr marL="54864" marR="54864" marT="18288" marB="18288" anchor="ctr">
                    <a:solidFill>
                      <a:srgbClr val="E8EDF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1F4E79"/>
                          </a:solidFill>
                          <a:latin typeface="Arial"/>
                        </a:rPr>
                        <a:t>Where the clinical pharmacologist sits</a:t>
                      </a:r>
                    </a:p>
                  </a:txBody>
                  <a:tcPr marL="54864" marR="54864" marT="18288" marB="18288" anchor="ctr">
                    <a:solidFill>
                      <a:srgbClr val="E8EDF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Food effect · DDI · relative bioavailability · organ impairment · mass balance / ADME · thorough QT · healthy volunteers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FIRST author — they designed and ran 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Population PK · exposure–response · PBPK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First or senior author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Dose escalation / first-in-human  (fallback only)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1C222B"/>
                          </a:solidFill>
                          <a:latin typeface="Arial"/>
                        </a:rPr>
                        <a:t>ANYWHERE — first and last are the treating clinicians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3657600"/>
            <a:ext cx="56235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3776472"/>
            <a:ext cx="5294376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F4E79"/>
                </a:solidFill>
                <a:latin typeface="Arial"/>
              </a:rPr>
              <a:t>THE CASE THAT PROVES IT ISN'T JUST POSITION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35C69"/>
                </a:solidFill>
                <a:latin typeface="Arial"/>
              </a:rPr>
              <a:t>Pivekimab sunirine, an AbbVie oncology ADC. The Phase 1 paper has 24 authors.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9B3A3A"/>
                </a:solidFill>
                <a:latin typeface="Arial"/>
              </a:rPr>
              <a:t>first    Naveen Pemmaraju — MD Anderson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1E6B52"/>
                </a:solidFill>
                <a:latin typeface="Arial"/>
              </a:rPr>
              <a:t>20–22    Yining Du · Sribalaji Lakshmikanthan · Jalaja Potluri — AbbVie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50" b="0" i="0">
                <a:solidFill>
                  <a:srgbClr val="9B3A3A"/>
                </a:solidFill>
                <a:latin typeface="Arial"/>
              </a:rPr>
              <a:t>last     Naval G Daver — MD Anderson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76808C"/>
                </a:solidFill>
                <a:latin typeface="Arial"/>
              </a:rPr>
              <a:t>The tool returns the three AbbVie authors and neither clinician. Pinned as a test so it cannot regress.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64808" y="3657600"/>
            <a:ext cx="5159959" cy="192024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B8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29400" y="3776472"/>
            <a:ext cx="4830775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1F4E79"/>
                </a:solidFill>
                <a:latin typeface="Arial"/>
              </a:rPr>
              <a:t>TWO THINGS IT HAS TO GET RIGHT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C222B"/>
                </a:solidFill>
                <a:latin typeface="Arial"/>
              </a:rPr>
              <a:t>Acquisitions. Tebipenem is approved to GSK, but every paper comes out of Spero, whom GSK bought. Baxdrostat is AstraZeneca; the papers are CinCor. The tool infers the company that actually ran the programme.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222B"/>
                </a:solidFill>
                <a:latin typeface="Arial"/>
              </a:rPr>
              <a:t>People move. PubMed records the affiliation at publication, so it reports where the work was done and adds “now at …”.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742432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F4E79"/>
                </a:solidFill>
                <a:latin typeface="Arial"/>
              </a:rPr>
              <a:t>Result on the live queue: 24 of 27 candidates get a named clinical pharmacologist, 20 of them at the sponsor or the company that ran the programme — against a baseline where most read NEEDS LOOKUP.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1041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08C"/>
                </a:solidFill>
                <a:latin typeface="Arial"/>
              </a:rPr>
              <a:t>CTS MOA sourcing engine — how it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67567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08C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Arial"/>
              </a:rPr>
              <a:t>DOES IT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105783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222B"/>
                </a:solidFill>
                <a:latin typeface="Arial"/>
              </a:rPr>
              <a:t>Backtest against the papers the series actually published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57839" cy="9525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35C69"/>
                </a:solidFill>
                <a:latin typeface="Arial"/>
              </a:rPr>
              <a:t>The 19 published MOA mini-reviews are the only labelled data that exists. The test: re-scan every FDA approval since 2015 and ask whether the filter would have surfaced the drugs that became papers.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320040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95528" y="201168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RECALL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1E6B52"/>
                </a:solidFill>
                <a:latin typeface="Arial"/>
              </a:rPr>
              <a:t>18 / 19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5C69"/>
                </a:solidFill>
                <a:latin typeface="Arial"/>
              </a:rPr>
              <a:t>published MOA drugs are surfaced by the filter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5928" y="1828800"/>
            <a:ext cx="7628839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178808" y="2011680"/>
            <a:ext cx="7263079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F4E79"/>
                </a:solidFill>
                <a:latin typeface="Arial"/>
              </a:rPr>
              <a:t>THE ONE MISS — molnupiravir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5C69"/>
                </a:solidFill>
                <a:latin typeface="Arial"/>
              </a:rPr>
              <a:t>It only ever held an Emergency Use Authorization and never received full FDA approval, so it appears nowhere in Drugs@FDA. This is a limit of the source, not a defect in the filter — EUA products are invisible to the tool and have to be spotted by a person.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730752"/>
            <a:ext cx="11057839" cy="141732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B8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95528" y="3895344"/>
            <a:ext cx="10600639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WHAT THE BACKTEST CHANGED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22B"/>
                </a:solidFill>
                <a:latin typeface="Arial"/>
              </a:rPr>
              <a:t>The first version scored 17/19 and excluded esketamine. Investigating showed why: esketamine is FDA class Type 2 — a new active ingredient, the enantiomer of an approved drug — not a Type 1 new molecular entity. Since the series had published it, Type 2 was added as a lower-scoring tier. The test found a real gap in the rules, which is the point of having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3492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RE-RUN IT AFTER ANY 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623560"/>
            <a:ext cx="4754880" cy="480060"/>
          </a:xfrm>
          <a:prstGeom prst="rect">
            <a:avLst/>
          </a:prstGeom>
          <a:solidFill>
            <a:srgbClr val="2B3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13232" y="5769864"/>
            <a:ext cx="4462272" cy="1874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E8ECF1"/>
                </a:solidFill>
                <a:latin typeface="Menlo"/>
              </a:rPr>
              <a:t>$ python3 backtest.py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5742432"/>
            <a:ext cx="6028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35C69"/>
                </a:solidFill>
                <a:latin typeface="Arial"/>
              </a:rPr>
              <a:t>A filter that rejects drugs the series actually published is not ready to trust.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1041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08C"/>
                </a:solidFill>
                <a:latin typeface="Arial"/>
              </a:rPr>
              <a:t>CTS MOA sourcing engine — how it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67567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08C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Arial"/>
              </a:rPr>
              <a:t>RUNNING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105783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222B"/>
                </a:solidFill>
                <a:latin typeface="Arial"/>
              </a:rPr>
              <a:t>Commands, control, and the safety 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57839" cy="9525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9844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EVERYDAY USE — most people just press the buttons; this is the same 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72768"/>
            <a:ext cx="6766560" cy="1229868"/>
          </a:xfrm>
          <a:prstGeom prst="rect">
            <a:avLst/>
          </a:prstGeom>
          <a:solidFill>
            <a:srgbClr val="2B3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1719072"/>
            <a:ext cx="6473952" cy="937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8ECF1"/>
                </a:solidFill>
                <a:latin typeface="Menlo"/>
              </a:rPr>
              <a:t>$ python3 moa_engine.py check           # verify everything; writes nothing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8ECF1"/>
                </a:solidFill>
                <a:latin typeface="Menlo"/>
              </a:rPr>
              <a:t>$ python3 moa_engine.py scan --days 120 # preview candidates; writes nothing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8ECF1"/>
                </a:solidFill>
                <a:latin typeface="Menlo"/>
              </a:rPr>
              <a:t>$ python3 moa_engine.py update --go     # add new candidates to the queue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8ECF1"/>
                </a:solidFill>
                <a:latin typeface="Menlo"/>
              </a:rPr>
              <a:t>$ python3 moa_engine.py dossier --go    # build the outreach list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8ECF1"/>
                </a:solidFill>
                <a:latin typeface="Menlo"/>
              </a:rPr>
              <a:t>$ python3 moa_engine.py invites --go    # draft the letters, once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99923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TURNING THE SCHEDULE ON AND OFF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273552"/>
            <a:ext cx="6766560" cy="854964"/>
          </a:xfrm>
          <a:prstGeom prst="rect">
            <a:avLst/>
          </a:prstGeom>
          <a:solidFill>
            <a:srgbClr val="2B3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3232" y="3419856"/>
            <a:ext cx="6473952" cy="56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8ECF1"/>
                </a:solidFill>
                <a:latin typeface="Menlo"/>
              </a:rPr>
              <a:t>$ python3 moa_engine.py start           # monthly, 7th at 09:17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8ECF1"/>
                </a:solidFill>
                <a:latin typeface="Menlo"/>
              </a:rPr>
              <a:t>$ python3 moa_engine.py status          # on or off?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E8ECF1"/>
                </a:solidFill>
                <a:latin typeface="Menlo"/>
              </a:rPr>
              <a:t>$ python3 moa_engine.py stop            # removes it completely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434840"/>
            <a:ext cx="6766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35C69"/>
                </a:solidFill>
                <a:latin typeface="Arial"/>
              </a:rPr>
              <a:t>It is off by default. If the Mac is asleep the job runs at next wake, and a missed month costs nothing: each run re-scans a trailing window and de-duplicates by key, so it self-heals. Running twice adds nothing the second 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07808" y="1298448"/>
            <a:ext cx="4016959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1E6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90688" y="1444752"/>
            <a:ext cx="3651199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1E6B52"/>
                </a:solidFill>
                <a:latin typeface="Arial"/>
              </a:rPr>
              <a:t>THE SAFETY RAILS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950" b="1">
                <a:solidFill>
                  <a:srgbClr val="1C222B"/>
                </a:solidFill>
                <a:latin typeface="Arial"/>
              </a:rPr>
              <a:t>✓  Runs on its own — </a:t>
            </a:r>
            <a:r>
              <a:rPr sz="950">
                <a:solidFill>
                  <a:srgbClr val="535C69"/>
                </a:solidFill>
                <a:latin typeface="Arial"/>
              </a:rPr>
              <a:t>no AI, no Claude, no account, no API key, no server — Python 3 and a connection to the FDA and PubMed, nothing else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950" b="1">
                <a:solidFill>
                  <a:srgbClr val="1C222B"/>
                </a:solidFill>
                <a:latin typeface="Arial"/>
              </a:rPr>
              <a:t>✓  Dry run by default — </a:t>
            </a:r>
            <a:r>
              <a:rPr sz="950">
                <a:solidFill>
                  <a:srgbClr val="535C69"/>
                </a:solidFill>
                <a:latin typeface="Arial"/>
              </a:rPr>
              <a:t>nothing is written without --go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950" b="1">
                <a:solidFill>
                  <a:srgbClr val="1C222B"/>
                </a:solidFill>
                <a:latin typeface="Arial"/>
              </a:rPr>
              <a:t>✓  No email, ever — </a:t>
            </a:r>
            <a:r>
              <a:rPr sz="950">
                <a:solidFill>
                  <a:srgbClr val="535C69"/>
                </a:solidFill>
                <a:latin typeface="Arial"/>
              </a:rPr>
              <a:t>invitations are drafted for you to send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950" b="1">
                <a:solidFill>
                  <a:srgbClr val="1C222B"/>
                </a:solidFill>
                <a:latin typeface="Arial"/>
              </a:rPr>
              <a:t>✓  Your columns are yours — </a:t>
            </a:r>
            <a:r>
              <a:rPr sz="950">
                <a:solidFill>
                  <a:srgbClr val="535C69"/>
                </a:solidFill>
                <a:latin typeface="Arial"/>
              </a:rPr>
              <a:t>AE owner and Status are never overwritten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950" b="1">
                <a:solidFill>
                  <a:srgbClr val="1C222B"/>
                </a:solidFill>
                <a:latin typeface="Arial"/>
              </a:rPr>
              <a:t>✓  No guessed contacts — </a:t>
            </a:r>
            <a:r>
              <a:rPr sz="950">
                <a:solidFill>
                  <a:srgbClr val="535C69"/>
                </a:solidFill>
                <a:latin typeface="Arial"/>
              </a:rPr>
              <a:t>a weak name match reports NEEDS LOOKUP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07808" y="4078224"/>
            <a:ext cx="4016959" cy="1975104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B8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90688" y="4206240"/>
            <a:ext cx="3651199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HANDING IT TO SOMEONE ELSE — ONE FILE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C222B"/>
                </a:solidFill>
                <a:latin typeface="Arial"/>
              </a:rPr>
              <a:t>Send one file, ~93 KB. Both the app and the command line.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1F4E79"/>
                </a:solidFill>
                <a:latin typeface="Arial"/>
              </a:rPr>
              <a:t>SEND THIS/CTS MOA Engine.command     Mac
SEND THIS/CTS MOA Engine.bat             Windows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35C69"/>
                </a:solidFill>
                <a:latin typeface="Arial"/>
              </a:rPr>
              <a:t>Loaded from memory; first run creates a working folder beside it.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35C69"/>
                </a:solidFill>
                <a:latin typeface="Arial"/>
              </a:rPr>
              <a:t>No account, no credential, no API key, no server. The only requirement is Python 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1041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08C"/>
                </a:solidFill>
                <a:latin typeface="Arial"/>
              </a:rPr>
              <a:t>CTS MOA sourcing engine — how it works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67567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08C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F4E79"/>
                </a:solidFill>
                <a:latin typeface="Arial"/>
              </a:rPr>
              <a:t>HONESTY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76072"/>
            <a:ext cx="1105783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C222B"/>
                </a:solidFill>
                <a:latin typeface="Arial"/>
              </a:rPr>
              <a:t>What it does not do — and what the group should decide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9848"/>
            <a:ext cx="11057839" cy="9525"/>
          </a:xfrm>
          <a:prstGeom prst="rect">
            <a:avLst/>
          </a:prstGeom>
          <a:solidFill>
            <a:srgbClr val="D8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5623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KNOWN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56235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00" b="1">
                <a:solidFill>
                  <a:srgbClr val="1C222B"/>
                </a:solidFill>
                <a:latin typeface="Arial"/>
              </a:rPr>
              <a:t>— EUA products are invisible </a:t>
            </a:r>
            <a:r>
              <a:rPr sz="1000">
                <a:solidFill>
                  <a:srgbClr val="535C69"/>
                </a:solidFill>
                <a:latin typeface="Arial"/>
              </a:rPr>
              <a:t>— molnupiravir never entered Drugs@FDA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00" b="1">
                <a:solidFill>
                  <a:srgbClr val="1C222B"/>
                </a:solidFill>
                <a:latin typeface="Arial"/>
              </a:rPr>
              <a:t>— Route data is imperfect </a:t>
            </a:r>
            <a:r>
              <a:rPr sz="1000">
                <a:solidFill>
                  <a:srgbClr val="535C69"/>
                </a:solidFill>
                <a:latin typeface="Arial"/>
              </a:rPr>
              <a:t>— Drugs@FDA has no route column; it is parsed out of the dosage form, which sometimes holds a presentation instead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00" b="1">
                <a:solidFill>
                  <a:srgbClr val="1C222B"/>
                </a:solidFill>
                <a:latin typeface="Arial"/>
              </a:rPr>
              <a:t>— Names come from the literature, not a staff list </a:t>
            </a:r>
            <a:r>
              <a:rPr sz="1000">
                <a:solidFill>
                  <a:srgbClr val="535C69"/>
                </a:solidFill>
                <a:latin typeface="Arial"/>
              </a:rPr>
              <a:t>— someone who never published on the drug is invisible, and 3 of 27 candidates are too new to have any papers at all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00" b="1">
                <a:solidFill>
                  <a:srgbClr val="1C222B"/>
                </a:solidFill>
                <a:latin typeface="Arial"/>
              </a:rPr>
              <a:t>— Affiliations are as at publication </a:t>
            </a:r>
            <a:r>
              <a:rPr sz="1000">
                <a:solidFill>
                  <a:srgbClr val="535C69"/>
                </a:solidFill>
                <a:latin typeface="Arial"/>
              </a:rPr>
              <a:t>— people move. The tool flags a likely move but cannot confirm a current employer. LinkedIn is not an option: its terms prohibit automated access and it refuses non-browser requests outright, so this stays a manual check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00" b="1">
                <a:solidFill>
                  <a:srgbClr val="1C222B"/>
                </a:solidFill>
                <a:latin typeface="Arial"/>
              </a:rPr>
              <a:t>— The ASCPT member directory is behind a login </a:t>
            </a:r>
            <a:r>
              <a:rPr sz="1000">
                <a:solidFill>
                  <a:srgbClr val="535C69"/>
                </a:solidFill>
                <a:latin typeface="Arial"/>
              </a:rPr>
              <a:t>— it is never scraped. The tool writes a short check list of the specific names it wants an answer for, which you or ASCPT fill in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00" b="1">
                <a:solidFill>
                  <a:srgbClr val="1C222B"/>
                </a:solidFill>
                <a:latin typeface="Arial"/>
              </a:rPr>
              <a:t>— Programme matches are leads, not facts </a:t>
            </a:r>
            <a:r>
              <a:rPr sz="1000">
                <a:solidFill>
                  <a:srgbClr val="535C69"/>
                </a:solidFill>
                <a:latin typeface="Arial"/>
              </a:rPr>
              <a:t>— “sponsor presenting” means someone from that company has a poster</a:t>
            </a:r>
          </a:p>
          <a:p>
            <a:pPr>
              <a:lnSpc>
                <a:spcPct val="106000"/>
              </a:lnSpc>
              <a:spcAft>
                <a:spcPts val="600"/>
              </a:spcAft>
            </a:pPr>
            <a:r>
              <a:rPr sz="1000" b="1">
                <a:solidFill>
                  <a:srgbClr val="1C222B"/>
                </a:solidFill>
                <a:latin typeface="Arial"/>
              </a:rPr>
              <a:t>— CBER depends on Purple Book lag </a:t>
            </a:r>
            <a:r>
              <a:rPr sz="1000">
                <a:solidFill>
                  <a:srgbClr val="535C69"/>
                </a:solidFill>
                <a:latin typeface="Arial"/>
              </a:rPr>
              <a:t>— only January was published for 2026 at the time of writing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5029200"/>
            <a:ext cx="56235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9B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808" y="5148072"/>
            <a:ext cx="5257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9B3A3A"/>
                </a:solidFill>
                <a:latin typeface="Arial"/>
              </a:rPr>
              <a:t>THE BIGGEST ONE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C222B"/>
                </a:solidFill>
                <a:latin typeface="Arial"/>
              </a:rPr>
              <a:t>It runs on one person's laptop. The tool is portable, but somebody still has to own it — otherwise this rebuilds the exact dependency that produced the 2025 trough.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1325880"/>
            <a:ext cx="5159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4E79"/>
                </a:solidFill>
                <a:latin typeface="Arial"/>
              </a:rPr>
              <a:t>FOR THE GROUP TO DECIDE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64808" y="1645920"/>
            <a:ext cx="5159959" cy="713232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B8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29400" y="1764792"/>
            <a:ext cx="4830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222B"/>
                </a:solidFill>
                <a:latin typeface="Arial"/>
              </a:rPr>
              <a:t>Who owns the queue — a named AE, a rotation, or the A-team?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64808" y="2487168"/>
            <a:ext cx="5159959" cy="713232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B8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29400" y="2606040"/>
            <a:ext cx="4830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222B"/>
                </a:solidFill>
                <a:latin typeface="Arial"/>
              </a:rPr>
              <a:t>What is the score threshold for actually inviting someone?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64808" y="3328416"/>
            <a:ext cx="5159959" cy="713232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B8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629400" y="3447288"/>
            <a:ext cx="4830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222B"/>
                </a:solidFill>
                <a:latin typeface="Arial"/>
              </a:rPr>
              <a:t>Do we chase the contact grid, or route invitations through ASCPT?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4808" y="4169664"/>
            <a:ext cx="5159959" cy="713232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B8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29400" y="4288536"/>
            <a:ext cx="4830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222B"/>
                </a:solidFill>
                <a:latin typeface="Arial"/>
              </a:rPr>
              <a:t>Should the outreach list be shared with the whole AE group?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64808" y="5010912"/>
            <a:ext cx="5159959" cy="713232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 w="9525">
            <a:solidFill>
              <a:srgbClr val="B8C2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29400" y="5129784"/>
            <a:ext cx="48307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C222B"/>
                </a:solidFill>
                <a:latin typeface="Arial"/>
              </a:rPr>
              <a:t>Does this stay on a laptop, or move somewhere the journal controls?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73952"/>
            <a:ext cx="10417759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08C"/>
                </a:solidFill>
                <a:latin typeface="Arial"/>
              </a:rPr>
              <a:t>CTS MOA sourcing engine — how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67567" y="647395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6808C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